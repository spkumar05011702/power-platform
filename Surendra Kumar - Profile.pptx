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6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24AECF-EC2F-4642-9844-8E5C23F134B4}" v="3" dt="2025-03-18T16:37:48.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40"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3F6D6B-AAE9-477B-9454-BE165B8D6053}" type="datetimeFigureOut">
              <a:rPr lang="en-US" smtClean="0"/>
              <a:t>4/17/2025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9B2DF7-3E6F-4711-86E4-A5E24FF511AD}" type="slidenum">
              <a:rPr lang="en-US" smtClean="0"/>
              <a:t>‹#›</a:t>
            </a:fld>
            <a:endParaRPr lang="en-US"/>
          </a:p>
        </p:txBody>
      </p:sp>
    </p:spTree>
    <p:extLst>
      <p:ext uri="{BB962C8B-B14F-4D97-AF65-F5344CB8AC3E}">
        <p14:creationId xmlns:p14="http://schemas.microsoft.com/office/powerpoint/2010/main" val="395120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9B2DF7-3E6F-4711-86E4-A5E24FF511AD}" type="slidenum">
              <a:rPr lang="en-US" smtClean="0"/>
              <a:t>1</a:t>
            </a:fld>
            <a:endParaRPr lang="en-US"/>
          </a:p>
        </p:txBody>
      </p:sp>
    </p:spTree>
    <p:extLst>
      <p:ext uri="{BB962C8B-B14F-4D97-AF65-F5344CB8AC3E}">
        <p14:creationId xmlns:p14="http://schemas.microsoft.com/office/powerpoint/2010/main" val="652831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9CA95-C532-6E79-D2A2-7E3A1E50A8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B2A6EE-2B50-EFC8-FBEB-C6313FB300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79192A-BCF3-CAFE-A15C-D4F07ED19456}"/>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5" name="Footer Placeholder 4">
            <a:extLst>
              <a:ext uri="{FF2B5EF4-FFF2-40B4-BE49-F238E27FC236}">
                <a16:creationId xmlns:a16="http://schemas.microsoft.com/office/drawing/2014/main" id="{312335AE-CA1A-2DC3-CFDB-B2A09F725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A230A-0814-56E2-10A3-A9697C16D0E3}"/>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405829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CB53E-A964-21F7-B89B-7ED481E020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CBFAAA-42F9-9186-0A43-5143C3E26F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8E363-419F-D32B-92EB-54A9B9BCC290}"/>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5" name="Footer Placeholder 4">
            <a:extLst>
              <a:ext uri="{FF2B5EF4-FFF2-40B4-BE49-F238E27FC236}">
                <a16:creationId xmlns:a16="http://schemas.microsoft.com/office/drawing/2014/main" id="{7E47768D-A1C9-B97F-D6B0-42D96FF0F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6DDAEA-4052-1A3F-5456-F855D3E03B5E}"/>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2843300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D5DC5-8AE7-7D57-7783-5A585745FF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1FB50F-9D13-2A34-20D8-EBC4C32984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75E9F2-4963-3C06-5F8D-A08B091369F2}"/>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5" name="Footer Placeholder 4">
            <a:extLst>
              <a:ext uri="{FF2B5EF4-FFF2-40B4-BE49-F238E27FC236}">
                <a16:creationId xmlns:a16="http://schemas.microsoft.com/office/drawing/2014/main" id="{145B1619-6E9E-520D-9A96-89A4BDB51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9C6B36-CFA0-19AE-C65F-5BE0748883EB}"/>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3246552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0ABA-484E-DDC7-63EB-BEF3EF5F17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35B9DB-01F3-5E20-5BD5-EF13E00868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32AED9-39E4-6972-225E-172B064165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2C04F6-EE3D-B3E2-A583-DBFF11039A3D}"/>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6" name="Footer Placeholder 5">
            <a:extLst>
              <a:ext uri="{FF2B5EF4-FFF2-40B4-BE49-F238E27FC236}">
                <a16:creationId xmlns:a16="http://schemas.microsoft.com/office/drawing/2014/main" id="{91079B4F-F8D5-1E65-49F6-A375FFB938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42C2E8-E21B-A293-AE6A-8E7DBC801978}"/>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2624787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189CC-13F6-A5CF-F41D-027B09299A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80EA35-5C88-16D3-94A0-F53FAE0E51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652FD5-A30D-DFB4-B4E0-1A6BB2519B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A5E5D8-462B-9751-1625-9729FE5D20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450138-9B54-DC48-EA87-982D27C88A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AEC54A-B7B5-7605-8833-09088663688A}"/>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8" name="Footer Placeholder 7">
            <a:extLst>
              <a:ext uri="{FF2B5EF4-FFF2-40B4-BE49-F238E27FC236}">
                <a16:creationId xmlns:a16="http://schemas.microsoft.com/office/drawing/2014/main" id="{10A4281F-7CFA-2DB1-D4F8-F388186410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B19E9B-10A1-9208-14A5-5C1180ABF9A7}"/>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3118541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3CB67-5CE8-0F12-9D48-3434F537CD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0FC99F-3B81-CA77-B940-642299F7A852}"/>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4" name="Footer Placeholder 3">
            <a:extLst>
              <a:ext uri="{FF2B5EF4-FFF2-40B4-BE49-F238E27FC236}">
                <a16:creationId xmlns:a16="http://schemas.microsoft.com/office/drawing/2014/main" id="{B72C2733-C7D0-9E77-DBB0-132DA818A5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6A4956-90DF-6B99-53C1-D92A23BE725E}"/>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1921066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13E9E4-AFC8-7DCB-6D69-CE4D1D00F4B5}"/>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3" name="Footer Placeholder 2">
            <a:extLst>
              <a:ext uri="{FF2B5EF4-FFF2-40B4-BE49-F238E27FC236}">
                <a16:creationId xmlns:a16="http://schemas.microsoft.com/office/drawing/2014/main" id="{D6FA2F41-775C-257C-C6EA-DF5EA93838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46C5BB-E6FE-C473-D314-C87299DBA8B3}"/>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3257900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46D12-7D3A-7523-752A-096EA881E0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811C44-BCBD-DC4C-63DB-CC508736DC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328E42-73F7-3C9B-4DCF-33DAB1A21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614F3-89E4-F900-B7E1-04254F835E45}"/>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6" name="Footer Placeholder 5">
            <a:extLst>
              <a:ext uri="{FF2B5EF4-FFF2-40B4-BE49-F238E27FC236}">
                <a16:creationId xmlns:a16="http://schemas.microsoft.com/office/drawing/2014/main" id="{B29223EB-93F8-018D-E08E-087C2D6B3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7498F3-3DE1-0FA8-7FD2-30DA22143886}"/>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279451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FE9D-C064-16F1-6F98-46878F8E39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B46D11-843D-A18A-8449-09A518B0CD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DF1734-E566-049E-B73D-B98ECE8C8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2C3042-62C7-5FA3-DC9F-634CCDAC54D0}"/>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6" name="Footer Placeholder 5">
            <a:extLst>
              <a:ext uri="{FF2B5EF4-FFF2-40B4-BE49-F238E27FC236}">
                <a16:creationId xmlns:a16="http://schemas.microsoft.com/office/drawing/2014/main" id="{07C03A82-3569-C495-8900-ED8573C20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98D1BD-FCB3-81A5-BDA8-7941D3401CEF}"/>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1626566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750B-4CFA-CDC9-08DA-ACC7A404AF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C3B7D3-8ED3-86CF-535C-007BD10BF4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288950-5A79-BBE4-8997-C6E5226B185A}"/>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5" name="Footer Placeholder 4">
            <a:extLst>
              <a:ext uri="{FF2B5EF4-FFF2-40B4-BE49-F238E27FC236}">
                <a16:creationId xmlns:a16="http://schemas.microsoft.com/office/drawing/2014/main" id="{3F5C51CF-9A7A-B35F-3B72-35432B569C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3C2B4-D604-31A4-F520-24EF63BBBAAD}"/>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249813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157DE-846A-55A6-5C93-EC79118C73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6DF541-FF2A-BA9E-B4A1-25EB395FDF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14B40-C9B1-4378-E730-80241363196C}"/>
              </a:ext>
            </a:extLst>
          </p:cNvPr>
          <p:cNvSpPr>
            <a:spLocks noGrp="1"/>
          </p:cNvSpPr>
          <p:nvPr>
            <p:ph type="dt" sz="half" idx="10"/>
          </p:nvPr>
        </p:nvSpPr>
        <p:spPr/>
        <p:txBody>
          <a:bodyPr/>
          <a:lstStyle/>
          <a:p>
            <a:fld id="{F07FE9CC-6DE9-4CAA-B16F-7ED88AAE5D8B}" type="datetimeFigureOut">
              <a:rPr lang="en-US" smtClean="0"/>
              <a:t>4/17/2025</a:t>
            </a:fld>
            <a:endParaRPr lang="en-US"/>
          </a:p>
        </p:txBody>
      </p:sp>
      <p:sp>
        <p:nvSpPr>
          <p:cNvPr id="5" name="Footer Placeholder 4">
            <a:extLst>
              <a:ext uri="{FF2B5EF4-FFF2-40B4-BE49-F238E27FC236}">
                <a16:creationId xmlns:a16="http://schemas.microsoft.com/office/drawing/2014/main" id="{0B8D8024-B8A1-6DB2-8FF7-299FBA826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180575-615F-7C57-37C8-D8C6306DE41D}"/>
              </a:ext>
            </a:extLst>
          </p:cNvPr>
          <p:cNvSpPr>
            <a:spLocks noGrp="1"/>
          </p:cNvSpPr>
          <p:nvPr>
            <p:ph type="sldNum" sz="quarter" idx="12"/>
          </p:nvPr>
        </p:nvSpPr>
        <p:spPr/>
        <p:txBody>
          <a:bodyPr/>
          <a:lstStyle/>
          <a:p>
            <a:fld id="{04A8C5B5-B0EE-4277-929E-6482B78F69D1}" type="slidenum">
              <a:rPr lang="en-US" smtClean="0"/>
              <a:t>‹#›</a:t>
            </a:fld>
            <a:endParaRPr lang="en-US"/>
          </a:p>
        </p:txBody>
      </p:sp>
    </p:spTree>
    <p:extLst>
      <p:ext uri="{BB962C8B-B14F-4D97-AF65-F5344CB8AC3E}">
        <p14:creationId xmlns:p14="http://schemas.microsoft.com/office/powerpoint/2010/main" val="3340854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grpSp>
        <p:nvGrpSpPr>
          <p:cNvPr id="2" name="Groupe 1">
            <a:extLst>
              <a:ext uri="{FF2B5EF4-FFF2-40B4-BE49-F238E27FC236}">
                <a16:creationId xmlns:a16="http://schemas.microsoft.com/office/drawing/2014/main" id="{E0309019-5735-FE9C-8477-6ACACAE049F7}"/>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745F8DC6-A186-2A63-8180-D36E0882165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 name="Freeform 14">
              <a:extLst>
                <a:ext uri="{FF2B5EF4-FFF2-40B4-BE49-F238E27FC236}">
                  <a16:creationId xmlns:a16="http://schemas.microsoft.com/office/drawing/2014/main" id="{163CD802-EBCD-6452-B474-0394D840F204}"/>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31853570"/>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D9AF4D-B6E4-4927-FD2D-2B10AC1BE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8226C7-9674-5595-88F8-9EC02C74CD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08DA59-1B9B-DE8D-F892-40E1E03252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7FE9CC-6DE9-4CAA-B16F-7ED88AAE5D8B}" type="datetimeFigureOut">
              <a:rPr lang="en-US" smtClean="0"/>
              <a:t>4/17/2025</a:t>
            </a:fld>
            <a:endParaRPr lang="en-US"/>
          </a:p>
        </p:txBody>
      </p:sp>
      <p:sp>
        <p:nvSpPr>
          <p:cNvPr id="5" name="Footer Placeholder 4">
            <a:extLst>
              <a:ext uri="{FF2B5EF4-FFF2-40B4-BE49-F238E27FC236}">
                <a16:creationId xmlns:a16="http://schemas.microsoft.com/office/drawing/2014/main" id="{0C255673-FC44-7447-03F6-B6E7A6392B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06DA91-4456-A52C-6395-BA0EDD846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A8C5B5-B0EE-4277-929E-6482B78F69D1}" type="slidenum">
              <a:rPr lang="en-US" smtClean="0"/>
              <a:t>‹#›</a:t>
            </a:fld>
            <a:endParaRPr lang="en-US"/>
          </a:p>
        </p:txBody>
      </p:sp>
    </p:spTree>
    <p:extLst>
      <p:ext uri="{BB962C8B-B14F-4D97-AF65-F5344CB8AC3E}">
        <p14:creationId xmlns:p14="http://schemas.microsoft.com/office/powerpoint/2010/main" val="2679207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FF962-347D-724C-9728-9647BC2CDD7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847842B-1DE2-F6F2-8F99-E2CE378BA5BF}"/>
              </a:ext>
            </a:extLst>
          </p:cNvPr>
          <p:cNvSpPr/>
          <p:nvPr/>
        </p:nvSpPr>
        <p:spPr>
          <a:xfrm>
            <a:off x="8622" y="8079"/>
            <a:ext cx="3347074" cy="68761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Ubuntu"/>
              <a:ea typeface="+mn-ea"/>
              <a:cs typeface="+mn-cs"/>
            </a:endParaRPr>
          </a:p>
        </p:txBody>
      </p:sp>
      <p:sp>
        <p:nvSpPr>
          <p:cNvPr id="38" name="Rectangle 37">
            <a:extLst>
              <a:ext uri="{FF2B5EF4-FFF2-40B4-BE49-F238E27FC236}">
                <a16:creationId xmlns:a16="http://schemas.microsoft.com/office/drawing/2014/main" id="{06B2C18B-6720-0D40-D7CD-372B8644A5F9}"/>
              </a:ext>
            </a:extLst>
          </p:cNvPr>
          <p:cNvSpPr/>
          <p:nvPr/>
        </p:nvSpPr>
        <p:spPr>
          <a:xfrm>
            <a:off x="218644" y="2002072"/>
            <a:ext cx="2844000" cy="369332"/>
          </a:xfrm>
          <a:prstGeom prst="rect">
            <a:avLst/>
          </a:prstGeom>
        </p:spPr>
        <p:txBody>
          <a:bodyPr wrap="square" lIns="91440" tIns="45720" rIns="91440" bIns="45720" anchor="t">
            <a:spAutoFit/>
          </a:bodyPr>
          <a:lstStyle/>
          <a:p>
            <a:pPr algn="ctr" defTabSz="844083">
              <a:spcBef>
                <a:spcPct val="0"/>
              </a:spcBef>
              <a:spcAft>
                <a:spcPct val="0"/>
              </a:spcAft>
              <a:defRPr/>
            </a:pPr>
            <a:r>
              <a:rPr lang="en-GB" b="1" dirty="0">
                <a:solidFill>
                  <a:srgbClr val="FFFFFF"/>
                </a:solidFill>
                <a:latin typeface="Ubuntu" panose="020B0504030602030204" pitchFamily="34" charset="0"/>
                <a:cs typeface="Arial"/>
              </a:rPr>
              <a:t>SURENDRA KUMAR</a:t>
            </a:r>
            <a:endParaRPr lang="en-GB" b="1" dirty="0">
              <a:solidFill>
                <a:srgbClr val="FFFFFF"/>
              </a:solidFill>
              <a:cs typeface="Arial"/>
            </a:endParaRPr>
          </a:p>
        </p:txBody>
      </p:sp>
      <p:sp>
        <p:nvSpPr>
          <p:cNvPr id="39" name="Rectangle 38">
            <a:extLst>
              <a:ext uri="{FF2B5EF4-FFF2-40B4-BE49-F238E27FC236}">
                <a16:creationId xmlns:a16="http://schemas.microsoft.com/office/drawing/2014/main" id="{323A445B-E823-3268-55F2-6DFD68710B91}"/>
              </a:ext>
            </a:extLst>
          </p:cNvPr>
          <p:cNvSpPr/>
          <p:nvPr/>
        </p:nvSpPr>
        <p:spPr>
          <a:xfrm>
            <a:off x="178644" y="2322870"/>
            <a:ext cx="2989192" cy="523220"/>
          </a:xfrm>
          <a:prstGeom prst="rect">
            <a:avLst/>
          </a:prstGeom>
        </p:spPr>
        <p:txBody>
          <a:bodyPr wrap="square" lIns="91440" tIns="45720" rIns="91440" bIns="45720" anchor="t">
            <a:spAutoFit/>
          </a:bodyPr>
          <a:lstStyle/>
          <a:p>
            <a:pPr marL="12700" marR="5080" indent="116205" algn="ctr">
              <a:spcBef>
                <a:spcPts val="85"/>
              </a:spcBef>
              <a:defRPr/>
            </a:pPr>
            <a:r>
              <a:rPr kumimoji="0" lang="en-US" sz="1400" b="1" i="0" u="none" strike="noStrike" kern="1200" cap="none" spc="-5" normalizeH="0" baseline="0" noProof="0" dirty="0">
                <a:ln>
                  <a:noFill/>
                </a:ln>
                <a:solidFill>
                  <a:srgbClr val="FFFFFF"/>
                </a:solidFill>
                <a:effectLst/>
                <a:uLnTx/>
                <a:uFillTx/>
                <a:latin typeface="Ubuntu"/>
                <a:ea typeface="+mn-ea"/>
                <a:cs typeface="Verdana"/>
              </a:rPr>
              <a:t>Power Platform </a:t>
            </a:r>
            <a:r>
              <a:rPr lang="en-US" sz="1400" b="1" spc="-5" dirty="0">
                <a:solidFill>
                  <a:srgbClr val="FFFFFF"/>
                </a:solidFill>
                <a:latin typeface="Ubuntu"/>
                <a:cs typeface="Verdana"/>
              </a:rPr>
              <a:t>Solution Developer </a:t>
            </a:r>
            <a:endParaRPr kumimoji="0" lang="en-US" sz="1400" b="1" i="0" u="none" strike="noStrike" kern="1200" cap="none" spc="-5" normalizeH="0" baseline="0" noProof="0" dirty="0">
              <a:ln>
                <a:noFill/>
              </a:ln>
              <a:solidFill>
                <a:srgbClr val="FFFFFF"/>
              </a:solidFill>
              <a:effectLst/>
              <a:uLnTx/>
              <a:uFillTx/>
              <a:latin typeface="Ubuntu"/>
              <a:ea typeface="+mn-ea"/>
              <a:cs typeface="Verdana"/>
            </a:endParaRPr>
          </a:p>
        </p:txBody>
      </p:sp>
      <p:grpSp>
        <p:nvGrpSpPr>
          <p:cNvPr id="40" name="Group 39">
            <a:extLst>
              <a:ext uri="{FF2B5EF4-FFF2-40B4-BE49-F238E27FC236}">
                <a16:creationId xmlns:a16="http://schemas.microsoft.com/office/drawing/2014/main" id="{CB680484-0823-B0DB-EB4B-1459DDE0D1CC}"/>
              </a:ext>
            </a:extLst>
          </p:cNvPr>
          <p:cNvGrpSpPr/>
          <p:nvPr/>
        </p:nvGrpSpPr>
        <p:grpSpPr>
          <a:xfrm>
            <a:off x="309522" y="2964266"/>
            <a:ext cx="2858314" cy="2532980"/>
            <a:chOff x="309522" y="3109324"/>
            <a:chExt cx="2858314" cy="2532980"/>
          </a:xfrm>
        </p:grpSpPr>
        <p:sp>
          <p:nvSpPr>
            <p:cNvPr id="41" name="Rectangle 40">
              <a:extLst>
                <a:ext uri="{FF2B5EF4-FFF2-40B4-BE49-F238E27FC236}">
                  <a16:creationId xmlns:a16="http://schemas.microsoft.com/office/drawing/2014/main" id="{4C5B90B8-08FB-DFE5-82F8-6A0C803B3DD9}"/>
                </a:ext>
              </a:extLst>
            </p:cNvPr>
            <p:cNvSpPr/>
            <p:nvPr/>
          </p:nvSpPr>
          <p:spPr>
            <a:xfrm>
              <a:off x="309522" y="3109324"/>
              <a:ext cx="2487614" cy="307777"/>
            </a:xfrm>
            <a:prstGeom prst="rect">
              <a:avLst/>
            </a:prstGeom>
          </p:spPr>
          <p:txBody>
            <a:bodyPr wrap="square" lIns="91440" tIns="45720" rIns="91440" bIns="45720" anchor="t">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1" i="0" u="none" strike="noStrike" kern="1200" cap="none" spc="0" normalizeH="0" baseline="0" noProof="0">
                  <a:ln>
                    <a:noFill/>
                  </a:ln>
                  <a:effectLst/>
                  <a:uLnTx/>
                  <a:uFillTx/>
                  <a:latin typeface="Ubuntu"/>
                  <a:cs typeface="Arial"/>
                </a:rPr>
                <a:t>Core Competencies</a:t>
              </a:r>
              <a:endParaRPr kumimoji="0" lang="en-GB" sz="1400" b="1" i="0" u="none" strike="noStrike" kern="1200" cap="none" spc="0" normalizeH="0" baseline="0" noProof="0">
                <a:ln>
                  <a:noFill/>
                </a:ln>
                <a:effectLst/>
                <a:uLnTx/>
                <a:uFillTx/>
                <a:latin typeface="Ubuntu" panose="020B0504030602030204" pitchFamily="34" charset="0"/>
                <a:ea typeface="+mn-ea"/>
                <a:cs typeface="Arial" charset="0"/>
              </a:endParaRPr>
            </a:p>
          </p:txBody>
        </p:sp>
        <p:sp>
          <p:nvSpPr>
            <p:cNvPr id="42" name="Rectangle 41">
              <a:extLst>
                <a:ext uri="{FF2B5EF4-FFF2-40B4-BE49-F238E27FC236}">
                  <a16:creationId xmlns:a16="http://schemas.microsoft.com/office/drawing/2014/main" id="{7792DC1C-6EB1-8D87-56BD-86FB9B5B84BD}"/>
                </a:ext>
              </a:extLst>
            </p:cNvPr>
            <p:cNvSpPr/>
            <p:nvPr/>
          </p:nvSpPr>
          <p:spPr>
            <a:xfrm>
              <a:off x="309522" y="3423748"/>
              <a:ext cx="2858314" cy="2218556"/>
            </a:xfrm>
            <a:prstGeom prst="rect">
              <a:avLst/>
            </a:prstGeom>
          </p:spPr>
          <p:txBody>
            <a:bodyPr wrap="square" lIns="91440" tIns="45720" rIns="91440" bIns="45720" anchor="t">
              <a:spAutoFit/>
            </a:bodyPr>
            <a:lstStyle/>
            <a:p>
              <a:pPr marL="354013" indent="-342900">
                <a:spcBef>
                  <a:spcPts val="100"/>
                </a:spcBef>
                <a:buFont typeface="Wingdings" panose="05000000000000000000" pitchFamily="2" charset="2"/>
                <a:buChar char="Ø"/>
                <a:tabLst>
                  <a:tab pos="332740" algn="l"/>
                  <a:tab pos="333375" algn="l"/>
                </a:tabLst>
                <a:defRPr/>
              </a:pPr>
              <a:r>
                <a:rPr lang="en-US" sz="1200" b="1" spc="-5" dirty="0">
                  <a:latin typeface="Ubuntu"/>
                  <a:ea typeface="Microsoft Sans Serif"/>
                  <a:cs typeface="Microsoft Sans Serif"/>
                </a:rPr>
                <a:t>Technical Skills :</a:t>
              </a:r>
              <a:br>
                <a:rPr lang="en-US" sz="1200" b="1" spc="-5" dirty="0">
                  <a:latin typeface="Ubuntu"/>
                  <a:ea typeface="Microsoft Sans Serif"/>
                  <a:cs typeface="Microsoft Sans Serif"/>
                </a:rPr>
              </a:br>
              <a:r>
                <a:rPr lang="en-US" sz="1000" b="1" spc="-5" dirty="0">
                  <a:solidFill>
                    <a:srgbClr val="FFFFFF"/>
                  </a:solidFill>
                  <a:latin typeface="Ubuntu"/>
                  <a:ea typeface="Microsoft Sans Serif"/>
                  <a:cs typeface="Microsoft Sans Serif"/>
                </a:rPr>
                <a:t>Power BI, Power Apps, Power Automate SharePoint, VBA, Power Query, Dataverse</a:t>
              </a:r>
            </a:p>
            <a:p>
              <a:pPr marL="12065">
                <a:spcBef>
                  <a:spcPts val="100"/>
                </a:spcBef>
                <a:tabLst>
                  <a:tab pos="332740" algn="l"/>
                  <a:tab pos="333375" algn="l"/>
                </a:tabLst>
                <a:defRPr/>
              </a:pPr>
              <a:endParaRPr lang="en-US" sz="1400" b="1" dirty="0">
                <a:latin typeface="Ubuntu"/>
                <a:cs typeface="Arial"/>
              </a:endParaRPr>
            </a:p>
            <a:p>
              <a:pPr marL="297815" indent="-285750">
                <a:spcBef>
                  <a:spcPts val="100"/>
                </a:spcBef>
                <a:buFont typeface="Wingdings" panose="05000000000000000000" pitchFamily="2" charset="2"/>
                <a:buChar char="Ø"/>
                <a:tabLst>
                  <a:tab pos="332740" algn="l"/>
                  <a:tab pos="333375" algn="l"/>
                </a:tabLst>
                <a:defRPr/>
              </a:pPr>
              <a:r>
                <a:rPr lang="en-US" sz="1200" b="1" dirty="0">
                  <a:latin typeface="Ubuntu"/>
                  <a:cs typeface="Arial"/>
                </a:rPr>
                <a:t>Technical Secondary Skills : </a:t>
              </a:r>
              <a:br>
                <a:rPr lang="en-US" sz="1000" b="1" dirty="0"/>
              </a:br>
              <a:r>
                <a:rPr lang="en-US" sz="1000" b="1" dirty="0"/>
                <a:t> 	</a:t>
              </a:r>
              <a:r>
                <a:rPr lang="en-US" sz="1000" b="1" spc="-5" dirty="0">
                  <a:solidFill>
                    <a:srgbClr val="FFFFFF"/>
                  </a:solidFill>
                  <a:latin typeface="Ubuntu"/>
                  <a:ea typeface="Microsoft Sans Serif"/>
                  <a:cs typeface="Microsoft Sans Serif"/>
                </a:rPr>
                <a:t>Python, Web Scraping</a:t>
              </a:r>
              <a:br>
                <a:rPr lang="en-US" sz="1000" b="1" spc="-5" dirty="0">
                  <a:solidFill>
                    <a:srgbClr val="FFFFFF"/>
                  </a:solidFill>
                  <a:latin typeface="Ubuntu"/>
                  <a:ea typeface="Microsoft Sans Serif"/>
                  <a:cs typeface="Microsoft Sans Serif"/>
                </a:rPr>
              </a:br>
              <a:endParaRPr lang="en-US" sz="1000" b="1" spc="-5" dirty="0">
                <a:solidFill>
                  <a:srgbClr val="FFFFFF"/>
                </a:solidFill>
                <a:latin typeface="Ubuntu"/>
                <a:ea typeface="Microsoft Sans Serif"/>
                <a:cs typeface="Microsoft Sans Serif"/>
              </a:endParaRPr>
            </a:p>
            <a:p>
              <a:pPr marL="297815" indent="-285750">
                <a:spcBef>
                  <a:spcPts val="100"/>
                </a:spcBef>
                <a:buFont typeface="Wingdings" panose="05000000000000000000" pitchFamily="2" charset="2"/>
                <a:buChar char="Ø"/>
                <a:tabLst>
                  <a:tab pos="332740" algn="l"/>
                  <a:tab pos="333375" algn="l"/>
                </a:tabLst>
                <a:defRPr/>
              </a:pPr>
              <a:r>
                <a:rPr lang="en-US" sz="1200" b="1" dirty="0">
                  <a:latin typeface="Ubuntu"/>
                  <a:cs typeface="Arial"/>
                </a:rPr>
                <a:t>Process Skills :</a:t>
              </a:r>
              <a:endParaRPr lang="en-US" sz="1200" b="1" spc="-5" dirty="0">
                <a:solidFill>
                  <a:srgbClr val="FFFFFF"/>
                </a:solidFill>
                <a:latin typeface="Ubuntu"/>
                <a:ea typeface="Microsoft Sans Serif"/>
                <a:cs typeface="Microsoft Sans Serif"/>
              </a:endParaRPr>
            </a:p>
            <a:p>
              <a:pPr marL="12065">
                <a:spcBef>
                  <a:spcPts val="100"/>
                </a:spcBef>
                <a:tabLst>
                  <a:tab pos="332740" algn="l"/>
                  <a:tab pos="333375" algn="l"/>
                </a:tabLst>
                <a:defRPr/>
              </a:pPr>
              <a:r>
                <a:rPr lang="en-US" sz="1000" b="1" spc="-5" dirty="0">
                  <a:solidFill>
                    <a:srgbClr val="FFFFFF"/>
                  </a:solidFill>
                  <a:latin typeface="Ubuntu"/>
                  <a:ea typeface="Microsoft Sans Serif"/>
                  <a:cs typeface="Microsoft Sans Serif"/>
                </a:rPr>
                <a:t>	Automation, Governance</a:t>
              </a:r>
              <a:br>
                <a:rPr lang="en-US" sz="1000" b="1" spc="-5" dirty="0">
                  <a:solidFill>
                    <a:srgbClr val="FFFFFF"/>
                  </a:solidFill>
                  <a:latin typeface="Ubuntu"/>
                  <a:ea typeface="Microsoft Sans Serif"/>
                  <a:cs typeface="Microsoft Sans Serif"/>
                </a:rPr>
              </a:br>
              <a:endParaRPr lang="en-US" sz="1000" b="1" spc="-5" dirty="0">
                <a:solidFill>
                  <a:srgbClr val="FFFFFF"/>
                </a:solidFill>
                <a:latin typeface="Ubuntu"/>
                <a:ea typeface="Microsoft Sans Serif"/>
                <a:cs typeface="Microsoft Sans Serif"/>
              </a:endParaRPr>
            </a:p>
            <a:p>
              <a:pPr marL="12065">
                <a:spcBef>
                  <a:spcPts val="100"/>
                </a:spcBef>
                <a:tabLst>
                  <a:tab pos="332740" algn="l"/>
                  <a:tab pos="333375" algn="l"/>
                </a:tabLst>
                <a:defRPr/>
              </a:pPr>
              <a:endParaRPr lang="en-US" sz="1000" b="1" spc="-5" dirty="0">
                <a:solidFill>
                  <a:srgbClr val="FFFFFF"/>
                </a:solidFill>
                <a:latin typeface="Ubuntu"/>
                <a:ea typeface="Microsoft Sans Serif"/>
                <a:cs typeface="Microsoft Sans Serif"/>
              </a:endParaRPr>
            </a:p>
          </p:txBody>
        </p:sp>
        <p:cxnSp>
          <p:nvCxnSpPr>
            <p:cNvPr id="43" name="Straight Connector 42">
              <a:extLst>
                <a:ext uri="{FF2B5EF4-FFF2-40B4-BE49-F238E27FC236}">
                  <a16:creationId xmlns:a16="http://schemas.microsoft.com/office/drawing/2014/main" id="{1DAFE5CA-DD35-C5BD-5A9E-8E6281FE0E36}"/>
                </a:ext>
              </a:extLst>
            </p:cNvPr>
            <p:cNvCxnSpPr>
              <a:cxnSpLocks/>
            </p:cNvCxnSpPr>
            <p:nvPr/>
          </p:nvCxnSpPr>
          <p:spPr>
            <a:xfrm>
              <a:off x="452397" y="3420840"/>
              <a:ext cx="2488071" cy="0"/>
            </a:xfrm>
            <a:prstGeom prst="line">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BA0E4BCB-D154-F458-7DAF-4334458A1B78}"/>
              </a:ext>
            </a:extLst>
          </p:cNvPr>
          <p:cNvGrpSpPr/>
          <p:nvPr/>
        </p:nvGrpSpPr>
        <p:grpSpPr>
          <a:xfrm>
            <a:off x="6495147" y="286557"/>
            <a:ext cx="5442994" cy="307777"/>
            <a:chOff x="6279106" y="697422"/>
            <a:chExt cx="5442994" cy="307777"/>
          </a:xfrm>
        </p:grpSpPr>
        <p:sp>
          <p:nvSpPr>
            <p:cNvPr id="45" name="Rectangle 44">
              <a:extLst>
                <a:ext uri="{FF2B5EF4-FFF2-40B4-BE49-F238E27FC236}">
                  <a16:creationId xmlns:a16="http://schemas.microsoft.com/office/drawing/2014/main" id="{DCDB6F76-BAF7-A9BD-2B0E-022CB5A3F136}"/>
                </a:ext>
              </a:extLst>
            </p:cNvPr>
            <p:cNvSpPr/>
            <p:nvPr/>
          </p:nvSpPr>
          <p:spPr>
            <a:xfrm>
              <a:off x="6279106" y="697422"/>
              <a:ext cx="4857454" cy="307777"/>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400" b="1" i="0" u="none" strike="noStrike" kern="1200" cap="none" spc="0" normalizeH="0" baseline="0" noProof="0">
                  <a:ln>
                    <a:noFill/>
                  </a:ln>
                  <a:solidFill>
                    <a:srgbClr val="12ABDB"/>
                  </a:solidFill>
                  <a:effectLst/>
                  <a:uLnTx/>
                  <a:uFillTx/>
                  <a:latin typeface="Ubuntu" panose="020B0504030602030204" pitchFamily="34" charset="0"/>
                  <a:ea typeface="+mn-ea"/>
                  <a:cs typeface="Calibri" pitchFamily="34" charset="0"/>
                </a:rPr>
                <a:t>Project Highlights (Representative)</a:t>
              </a:r>
            </a:p>
          </p:txBody>
        </p:sp>
        <p:cxnSp>
          <p:nvCxnSpPr>
            <p:cNvPr id="46" name="Straight Connector 45">
              <a:extLst>
                <a:ext uri="{FF2B5EF4-FFF2-40B4-BE49-F238E27FC236}">
                  <a16:creationId xmlns:a16="http://schemas.microsoft.com/office/drawing/2014/main" id="{90DEEF9F-F861-5355-56A3-DEDF455B3D79}"/>
                </a:ext>
              </a:extLst>
            </p:cNvPr>
            <p:cNvCxnSpPr>
              <a:cxnSpLocks/>
            </p:cNvCxnSpPr>
            <p:nvPr/>
          </p:nvCxnSpPr>
          <p:spPr>
            <a:xfrm>
              <a:off x="6370546" y="1000108"/>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0B1527C5-CFCD-A16C-3162-C464AB3FFB09}"/>
              </a:ext>
            </a:extLst>
          </p:cNvPr>
          <p:cNvSpPr/>
          <p:nvPr/>
        </p:nvSpPr>
        <p:spPr>
          <a:xfrm>
            <a:off x="6474629" y="611678"/>
            <a:ext cx="5708749" cy="5693866"/>
          </a:xfrm>
          <a:prstGeom prst="rect">
            <a:avLst/>
          </a:prstGeom>
        </p:spPr>
        <p:txBody>
          <a:bodyPr wrap="square" lIns="91440" tIns="45720" rIns="91440" bIns="45720" anchor="t">
            <a:spAutoFit/>
          </a:bodyPr>
          <a:lstStyle/>
          <a:p>
            <a:pPr marR="0" lvl="0" algn="l" defTabSz="914400">
              <a:lnSpc>
                <a:spcPct val="100000"/>
              </a:lnSpc>
              <a:spcBef>
                <a:spcPts val="0"/>
              </a:spcBef>
              <a:spcAft>
                <a:spcPts val="600"/>
              </a:spcAft>
              <a:buClrTx/>
              <a:buSzTx/>
              <a:tabLst>
                <a:tab pos="328930" algn="l"/>
                <a:tab pos="329565" algn="l"/>
              </a:tabLst>
              <a:defRPr/>
            </a:pPr>
            <a:r>
              <a:rPr lang="en-US" sz="1100" b="1" dirty="0">
                <a:solidFill>
                  <a:prstClr val="black"/>
                </a:solidFill>
                <a:cs typeface="Calibri"/>
              </a:rPr>
              <a:t>Projects on Power Platform -</a:t>
            </a:r>
          </a:p>
          <a:p>
            <a:pPr marL="171450" marR="0" lvl="0" indent="-171450" algn="just" defTabSz="914400">
              <a:lnSpc>
                <a:spcPct val="100000"/>
              </a:lnSpc>
              <a:spcBef>
                <a:spcPts val="0"/>
              </a:spcBef>
              <a:spcAft>
                <a:spcPts val="600"/>
              </a:spcAft>
              <a:buClrTx/>
              <a:buSzTx/>
              <a:buFont typeface="Wingdings" panose="05000000000000000000" pitchFamily="2" charset="2"/>
              <a:buChar char="§"/>
              <a:tabLst>
                <a:tab pos="328930" algn="l"/>
                <a:tab pos="329565" algn="l"/>
              </a:tabLst>
              <a:defRPr/>
            </a:pPr>
            <a:r>
              <a:rPr lang="en-US" sz="1100" b="1" dirty="0">
                <a:solidFill>
                  <a:prstClr val="black"/>
                </a:solidFill>
                <a:cs typeface="Calibri"/>
              </a:rPr>
              <a:t>Customer Master Data : </a:t>
            </a:r>
            <a:r>
              <a:rPr lang="en-US" sz="1100" dirty="0">
                <a:solidFill>
                  <a:prstClr val="black"/>
                </a:solidFill>
                <a:cs typeface="Calibri"/>
              </a:rPr>
              <a:t>Developed process automation in healthcare sector initiatives using Power Automate, eliminating manual tasks and significantly improving operational efficiency. My experience includes designing and implementing Power Apps solutions, integrating Dataverse and SharePoint Online to create scalable workflows and optimized backend system. Create and manage automated processes using Power Apps, Power Automate, Power BI , Power Query , Power Automate Desktop , Excel VBA, Azure Portal.</a:t>
            </a:r>
          </a:p>
          <a:p>
            <a:pPr marL="182563" marR="0" lvl="0" indent="-182563" algn="just" defTabSz="914400">
              <a:lnSpc>
                <a:spcPct val="100000"/>
              </a:lnSpc>
              <a:spcBef>
                <a:spcPts val="0"/>
              </a:spcBef>
              <a:spcAft>
                <a:spcPts val="600"/>
              </a:spcAft>
              <a:buClrTx/>
              <a:buSzTx/>
              <a:tabLst>
                <a:tab pos="328930" algn="l"/>
                <a:tab pos="329565" algn="l"/>
              </a:tabLst>
              <a:defRPr/>
            </a:pPr>
            <a:r>
              <a:rPr lang="en-US" sz="1100" dirty="0">
                <a:solidFill>
                  <a:prstClr val="black"/>
                </a:solidFill>
                <a:cs typeface="Calibri"/>
              </a:rPr>
              <a:t>      Played a role of lead Developer and Business Analyst for requirement gathering with    business stakeholders and developing mobile applications.</a:t>
            </a:r>
          </a:p>
          <a:p>
            <a:pPr marL="171450" marR="0" lvl="0" indent="-171450" algn="just" defTabSz="914400">
              <a:lnSpc>
                <a:spcPct val="100000"/>
              </a:lnSpc>
              <a:spcBef>
                <a:spcPts val="0"/>
              </a:spcBef>
              <a:spcAft>
                <a:spcPts val="600"/>
              </a:spcAft>
              <a:buClrTx/>
              <a:buSzTx/>
              <a:buFont typeface="Wingdings" panose="05000000000000000000" pitchFamily="2" charset="2"/>
              <a:buChar char="§"/>
              <a:tabLst>
                <a:tab pos="328930" algn="l"/>
                <a:tab pos="329565" algn="l"/>
              </a:tabLst>
              <a:defRPr/>
            </a:pPr>
            <a:r>
              <a:rPr lang="en-US" sz="1100" b="1" dirty="0">
                <a:solidFill>
                  <a:prstClr val="black"/>
                </a:solidFill>
                <a:cs typeface="Calibri"/>
              </a:rPr>
              <a:t>SmartNet Inwards and Outwards : </a:t>
            </a:r>
            <a:r>
              <a:rPr lang="en-US" sz="1100" dirty="0">
                <a:solidFill>
                  <a:prstClr val="black"/>
                </a:solidFill>
                <a:cs typeface="Calibri"/>
              </a:rPr>
              <a:t>Digitalized the processes using Power Platform enabled rapid development and integration of functionalities. We built an innovative suite of dashboard that covered the entire lifecycle of a well from the ideation stage to well retirement. Various processes were unified under one system while accommodating exceptions. Canvas apps applications were developed for data management for mobile data updates, and Power BI for reporting. Different data sources were connected using Dataverse and SharePoint Folder and SharePoint list.</a:t>
            </a:r>
          </a:p>
          <a:p>
            <a:pPr marL="171450" marR="0" lvl="0" indent="-171450" algn="just" defTabSz="914400">
              <a:lnSpc>
                <a:spcPct val="100000"/>
              </a:lnSpc>
              <a:spcBef>
                <a:spcPts val="0"/>
              </a:spcBef>
              <a:spcAft>
                <a:spcPts val="600"/>
              </a:spcAft>
              <a:buClrTx/>
              <a:buSzTx/>
              <a:buFont typeface="Wingdings" panose="05000000000000000000" pitchFamily="2" charset="2"/>
              <a:buChar char="§"/>
              <a:tabLst>
                <a:tab pos="328930" algn="l"/>
                <a:tab pos="329565" algn="l"/>
              </a:tabLst>
              <a:defRPr/>
            </a:pPr>
            <a:r>
              <a:rPr lang="en-US" sz="1100" dirty="0">
                <a:solidFill>
                  <a:prstClr val="black"/>
                </a:solidFill>
                <a:cs typeface="Calibri"/>
              </a:rPr>
              <a:t>Acted as the Project Lead and Senior PowerApps Developer. My responsibilities included gathering requirements from business stakeholders, providing cost-effective solutions using Power Platform, developing PowerApps applications, Power BI reports &amp; ETL by Power Queries with dynamic functions </a:t>
            </a:r>
            <a:r>
              <a:rPr lang="en-US" sz="1100">
                <a:solidFill>
                  <a:prstClr val="black"/>
                </a:solidFill>
                <a:cs typeface="Calibri"/>
              </a:rPr>
              <a:t>(M-Language), </a:t>
            </a:r>
            <a:r>
              <a:rPr lang="en-US" sz="1100" dirty="0">
                <a:solidFill>
                  <a:prstClr val="black"/>
                </a:solidFill>
                <a:cs typeface="Calibri"/>
              </a:rPr>
              <a:t>ensuring quality and compliance, conducting application testing and production deployment, and coordinating offshore-onshore activities. </a:t>
            </a:r>
          </a:p>
          <a:p>
            <a:pPr marL="171450" marR="0" lvl="0" indent="-171450" algn="just" defTabSz="914400">
              <a:lnSpc>
                <a:spcPct val="100000"/>
              </a:lnSpc>
              <a:spcBef>
                <a:spcPts val="0"/>
              </a:spcBef>
              <a:spcAft>
                <a:spcPts val="600"/>
              </a:spcAft>
              <a:buClrTx/>
              <a:buSzTx/>
              <a:buFont typeface="Wingdings" panose="05000000000000000000" pitchFamily="2" charset="2"/>
              <a:buChar char="§"/>
              <a:tabLst>
                <a:tab pos="328930" algn="l"/>
                <a:tab pos="329565" algn="l"/>
              </a:tabLst>
              <a:defRPr/>
            </a:pPr>
            <a:r>
              <a:rPr lang="en-US" sz="1100" dirty="0">
                <a:solidFill>
                  <a:prstClr val="black"/>
                </a:solidFill>
                <a:cs typeface="Calibri"/>
              </a:rPr>
              <a:t>Delivered functionalities in weeks, reducing development time &amp; maintenance overhead. 10+ applications were developed within a year. </a:t>
            </a:r>
          </a:p>
          <a:p>
            <a:pPr marR="0" lvl="0" algn="l" defTabSz="914400">
              <a:lnSpc>
                <a:spcPct val="100000"/>
              </a:lnSpc>
              <a:spcBef>
                <a:spcPts val="0"/>
              </a:spcBef>
              <a:spcAft>
                <a:spcPts val="600"/>
              </a:spcAft>
              <a:buClrTx/>
              <a:buSzTx/>
              <a:tabLst>
                <a:tab pos="328930" algn="l"/>
                <a:tab pos="329565" algn="l"/>
              </a:tabLst>
              <a:defRPr/>
            </a:pPr>
            <a:r>
              <a:rPr lang="en-US" sz="1100" b="1" dirty="0">
                <a:solidFill>
                  <a:prstClr val="black"/>
                </a:solidFill>
                <a:cs typeface="Calibri"/>
              </a:rPr>
              <a:t>Projects On SharePoint </a:t>
            </a:r>
          </a:p>
          <a:p>
            <a:pPr marL="182563" marR="0" lvl="0" algn="just" defTabSz="914400">
              <a:lnSpc>
                <a:spcPct val="100000"/>
              </a:lnSpc>
              <a:spcBef>
                <a:spcPts val="0"/>
              </a:spcBef>
              <a:spcAft>
                <a:spcPts val="600"/>
              </a:spcAft>
              <a:buClrTx/>
              <a:buSzTx/>
              <a:tabLst>
                <a:tab pos="328930" algn="l"/>
                <a:tab pos="329565" algn="l"/>
              </a:tabLst>
              <a:defRPr/>
            </a:pPr>
            <a:r>
              <a:rPr lang="en-US" sz="1100" dirty="0">
                <a:solidFill>
                  <a:prstClr val="black"/>
                </a:solidFill>
                <a:cs typeface="Calibri"/>
              </a:rPr>
              <a:t>Evaluated process automation requirements and design Automation solutions for the business operations delivering exponential efficiency and effectiveness. Worked and developed over 40+ Solutions for the multiple automation requirements presented by the client. Provided insights on multiple dashboards for Data Analysis through Power BI</a:t>
            </a:r>
            <a:r>
              <a:rPr lang="en-US" sz="1000" dirty="0">
                <a:solidFill>
                  <a:prstClr val="black"/>
                </a:solidFill>
                <a:latin typeface="Ubuntu"/>
                <a:cs typeface="Calibri"/>
              </a:rPr>
              <a:t>.</a:t>
            </a:r>
            <a:br>
              <a:rPr lang="en-US" sz="1000" dirty="0">
                <a:solidFill>
                  <a:prstClr val="black"/>
                </a:solidFill>
                <a:latin typeface="Ubuntu"/>
                <a:cs typeface="Calibri"/>
              </a:rPr>
            </a:br>
            <a:endParaRPr lang="en-US" sz="1000" dirty="0">
              <a:solidFill>
                <a:prstClr val="black"/>
              </a:solidFill>
              <a:latin typeface="Ubuntu"/>
              <a:cs typeface="Calibri"/>
            </a:endParaRPr>
          </a:p>
        </p:txBody>
      </p:sp>
      <p:grpSp>
        <p:nvGrpSpPr>
          <p:cNvPr id="48" name="Group 47">
            <a:extLst>
              <a:ext uri="{FF2B5EF4-FFF2-40B4-BE49-F238E27FC236}">
                <a16:creationId xmlns:a16="http://schemas.microsoft.com/office/drawing/2014/main" id="{58C4AF3A-5884-5BD0-A0E2-A11A9857B520}"/>
              </a:ext>
            </a:extLst>
          </p:cNvPr>
          <p:cNvGrpSpPr/>
          <p:nvPr/>
        </p:nvGrpSpPr>
        <p:grpSpPr>
          <a:xfrm>
            <a:off x="3446131" y="305531"/>
            <a:ext cx="2651760" cy="307777"/>
            <a:chOff x="3320006" y="697422"/>
            <a:chExt cx="2651760" cy="307777"/>
          </a:xfrm>
        </p:grpSpPr>
        <p:sp>
          <p:nvSpPr>
            <p:cNvPr id="49" name="Rectangle 48">
              <a:extLst>
                <a:ext uri="{FF2B5EF4-FFF2-40B4-BE49-F238E27FC236}">
                  <a16:creationId xmlns:a16="http://schemas.microsoft.com/office/drawing/2014/main" id="{F44C911B-6C61-38DF-D594-0297E59AF6C9}"/>
                </a:ext>
              </a:extLst>
            </p:cNvPr>
            <p:cNvSpPr/>
            <p:nvPr/>
          </p:nvSpPr>
          <p:spPr>
            <a:xfrm>
              <a:off x="3320006" y="697422"/>
              <a:ext cx="2651760" cy="307777"/>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400" b="1" i="0" u="none" strike="noStrike" kern="1200" cap="none" spc="0" normalizeH="0" baseline="0" noProof="0" dirty="0">
                  <a:ln>
                    <a:noFill/>
                  </a:ln>
                  <a:solidFill>
                    <a:srgbClr val="12ABDB"/>
                  </a:solidFill>
                  <a:effectLst/>
                  <a:uLnTx/>
                  <a:uFillTx/>
                  <a:latin typeface="Ubuntu" panose="020B0504030602030204" pitchFamily="34" charset="0"/>
                  <a:ea typeface="+mn-ea"/>
                  <a:cs typeface="Calibri" pitchFamily="34" charset="0"/>
                </a:rPr>
                <a:t>Professional Background</a:t>
              </a:r>
            </a:p>
          </p:txBody>
        </p:sp>
        <p:cxnSp>
          <p:nvCxnSpPr>
            <p:cNvPr id="50" name="Straight Connector 49">
              <a:extLst>
                <a:ext uri="{FF2B5EF4-FFF2-40B4-BE49-F238E27FC236}">
                  <a16:creationId xmlns:a16="http://schemas.microsoft.com/office/drawing/2014/main" id="{7E7CBC2C-07CB-047E-1472-B9E57FD07220}"/>
                </a:ext>
              </a:extLst>
            </p:cNvPr>
            <p:cNvCxnSpPr>
              <a:cxnSpLocks/>
            </p:cNvCxnSpPr>
            <p:nvPr/>
          </p:nvCxnSpPr>
          <p:spPr>
            <a:xfrm>
              <a:off x="3411446" y="1000108"/>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51" name="Rectangle 50">
            <a:extLst>
              <a:ext uri="{FF2B5EF4-FFF2-40B4-BE49-F238E27FC236}">
                <a16:creationId xmlns:a16="http://schemas.microsoft.com/office/drawing/2014/main" id="{3912AAB4-31CC-04D4-316F-91DC423DC02A}"/>
              </a:ext>
            </a:extLst>
          </p:cNvPr>
          <p:cNvSpPr/>
          <p:nvPr/>
        </p:nvSpPr>
        <p:spPr>
          <a:xfrm>
            <a:off x="3421843" y="695646"/>
            <a:ext cx="2918981" cy="2746906"/>
          </a:xfrm>
          <a:prstGeom prst="rect">
            <a:avLst/>
          </a:prstGeom>
        </p:spPr>
        <p:txBody>
          <a:bodyPr wrap="square" lIns="91440" tIns="45720" rIns="91440" bIns="45720" anchor="t">
            <a:spAutoFit/>
          </a:bodyPr>
          <a:lstStyle/>
          <a:p>
            <a:pPr marL="171450" lvl="1" indent="-171450">
              <a:spcAft>
                <a:spcPts val="300"/>
              </a:spcAft>
              <a:buSzPct val="100000"/>
              <a:buFont typeface="Wingdings" panose="05000000000000000000" pitchFamily="2" charset="2"/>
              <a:buChar char="§"/>
              <a:defRPr/>
            </a:pPr>
            <a:r>
              <a:rPr lang="en-US" sz="1100" dirty="0"/>
              <a:t>Professional Experience: Over 5 years in Power Platform &amp; Quick Process Automation.</a:t>
            </a:r>
          </a:p>
          <a:p>
            <a:pPr marL="171450" lvl="1" indent="-171450">
              <a:spcAft>
                <a:spcPts val="300"/>
              </a:spcAft>
              <a:buSzPct val="100000"/>
              <a:buFont typeface="Wingdings" panose="05000000000000000000" pitchFamily="2" charset="2"/>
              <a:buChar char="§"/>
              <a:defRPr/>
            </a:pPr>
            <a:r>
              <a:rPr lang="en-US" sz="1100" dirty="0"/>
              <a:t>Proficient in Microsoft Power Platform and cloud technologies.</a:t>
            </a:r>
          </a:p>
          <a:p>
            <a:pPr marL="171450" lvl="1" indent="-171450">
              <a:spcAft>
                <a:spcPts val="300"/>
              </a:spcAft>
              <a:buSzPct val="100000"/>
              <a:buFont typeface="Wingdings" panose="05000000000000000000" pitchFamily="2" charset="2"/>
              <a:buChar char="§"/>
              <a:defRPr/>
            </a:pPr>
            <a:r>
              <a:rPr lang="en-US" sz="1100" dirty="0"/>
              <a:t>Designed scalable Power Apps solutions integrated with Dataverse and SharePoint Online, Optimizing workflows and backend systems for enhanced data performance and reliability.</a:t>
            </a:r>
          </a:p>
          <a:p>
            <a:pPr marL="171450" lvl="1" indent="-171450">
              <a:spcAft>
                <a:spcPts val="300"/>
              </a:spcAft>
              <a:buSzPct val="100000"/>
              <a:buFont typeface="Wingdings" panose="05000000000000000000" pitchFamily="2" charset="2"/>
              <a:buChar char="§"/>
              <a:defRPr/>
            </a:pPr>
            <a:r>
              <a:rPr lang="en-US" sz="1100" dirty="0"/>
              <a:t>Data-Driven Decision Making: Created insightful dashboards with Power BI, enabling stakeholders to make informed decisions based on real-time data analysis and reporting.</a:t>
            </a:r>
          </a:p>
        </p:txBody>
      </p:sp>
      <p:cxnSp>
        <p:nvCxnSpPr>
          <p:cNvPr id="52" name="Straight Connector 51">
            <a:extLst>
              <a:ext uri="{FF2B5EF4-FFF2-40B4-BE49-F238E27FC236}">
                <a16:creationId xmlns:a16="http://schemas.microsoft.com/office/drawing/2014/main" id="{19ABE02C-3F10-3654-6EC7-1CBBB340F646}"/>
              </a:ext>
            </a:extLst>
          </p:cNvPr>
          <p:cNvCxnSpPr>
            <a:cxnSpLocks/>
          </p:cNvCxnSpPr>
          <p:nvPr/>
        </p:nvCxnSpPr>
        <p:spPr>
          <a:xfrm rot="5400000">
            <a:off x="3653942" y="3514324"/>
            <a:ext cx="5558365" cy="1588"/>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FB6D92FD-B9C0-30F6-C190-08E3D58E5A22}"/>
              </a:ext>
            </a:extLst>
          </p:cNvPr>
          <p:cNvGrpSpPr/>
          <p:nvPr/>
        </p:nvGrpSpPr>
        <p:grpSpPr>
          <a:xfrm>
            <a:off x="3458255" y="5001754"/>
            <a:ext cx="2847432" cy="940223"/>
            <a:chOff x="3290608" y="4365573"/>
            <a:chExt cx="2847432" cy="940223"/>
          </a:xfrm>
        </p:grpSpPr>
        <p:sp>
          <p:nvSpPr>
            <p:cNvPr id="54" name="Rectangle 53">
              <a:extLst>
                <a:ext uri="{FF2B5EF4-FFF2-40B4-BE49-F238E27FC236}">
                  <a16:creationId xmlns:a16="http://schemas.microsoft.com/office/drawing/2014/main" id="{AFABC6B5-D539-D574-F790-661854C654B2}"/>
                </a:ext>
              </a:extLst>
            </p:cNvPr>
            <p:cNvSpPr/>
            <p:nvPr/>
          </p:nvSpPr>
          <p:spPr>
            <a:xfrm>
              <a:off x="3290608" y="4705632"/>
              <a:ext cx="2847432" cy="600164"/>
            </a:xfrm>
            <a:prstGeom prst="rect">
              <a:avLst/>
            </a:prstGeom>
          </p:spPr>
          <p:txBody>
            <a:bodyPr wrap="square" lIns="91440" tIns="45720" rIns="91440" bIns="45720" anchor="t">
              <a:spAutoFit/>
            </a:bodyPr>
            <a:lstStyle/>
            <a:p>
              <a:pPr marL="188595" lvl="1" indent="-188595">
                <a:spcBef>
                  <a:spcPts val="400"/>
                </a:spcBef>
                <a:spcAft>
                  <a:spcPts val="400"/>
                </a:spcAft>
                <a:buFont typeface="Wingdings,Sans-Serif"/>
                <a:buChar char="§"/>
                <a:tabLst>
                  <a:tab pos="325120" algn="l"/>
                  <a:tab pos="325755" algn="l"/>
                </a:tabLst>
                <a:defRPr/>
              </a:pPr>
              <a:r>
                <a:rPr lang="en-US" sz="1100" dirty="0"/>
                <a:t>Bachelor of Computer Application Makhan Lal Chaturvedi National University - Bhopal</a:t>
              </a:r>
            </a:p>
          </p:txBody>
        </p:sp>
        <p:grpSp>
          <p:nvGrpSpPr>
            <p:cNvPr id="55" name="Group 54">
              <a:extLst>
                <a:ext uri="{FF2B5EF4-FFF2-40B4-BE49-F238E27FC236}">
                  <a16:creationId xmlns:a16="http://schemas.microsoft.com/office/drawing/2014/main" id="{509F61E3-6598-EB27-58F7-7A800185CD5E}"/>
                </a:ext>
              </a:extLst>
            </p:cNvPr>
            <p:cNvGrpSpPr/>
            <p:nvPr/>
          </p:nvGrpSpPr>
          <p:grpSpPr>
            <a:xfrm>
              <a:off x="3320006" y="4365573"/>
              <a:ext cx="2651760" cy="340059"/>
              <a:chOff x="3320006" y="4287801"/>
              <a:chExt cx="2651760" cy="340059"/>
            </a:xfrm>
          </p:grpSpPr>
          <p:sp>
            <p:nvSpPr>
              <p:cNvPr id="56" name="Rectangle 55">
                <a:extLst>
                  <a:ext uri="{FF2B5EF4-FFF2-40B4-BE49-F238E27FC236}">
                    <a16:creationId xmlns:a16="http://schemas.microsoft.com/office/drawing/2014/main" id="{7062AC74-8CE0-E68B-E0C7-E0666918C21B}"/>
                  </a:ext>
                </a:extLst>
              </p:cNvPr>
              <p:cNvSpPr/>
              <p:nvPr/>
            </p:nvSpPr>
            <p:spPr>
              <a:xfrm>
                <a:off x="3320006" y="4287801"/>
                <a:ext cx="2651760" cy="307777"/>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400" b="1" i="0" u="none" strike="noStrike" kern="1200" cap="none" spc="0" normalizeH="0" baseline="0" noProof="0">
                    <a:ln>
                      <a:noFill/>
                    </a:ln>
                    <a:solidFill>
                      <a:schemeClr val="accent2"/>
                    </a:solidFill>
                    <a:effectLst/>
                    <a:uLnTx/>
                    <a:uFillTx/>
                    <a:latin typeface="Ubuntu" panose="020B0504030602030204" pitchFamily="34" charset="0"/>
                    <a:ea typeface="+mn-ea"/>
                    <a:cs typeface="Calibri" pitchFamily="34" charset="0"/>
                  </a:rPr>
                  <a:t>Education</a:t>
                </a:r>
              </a:p>
            </p:txBody>
          </p:sp>
          <p:cxnSp>
            <p:nvCxnSpPr>
              <p:cNvPr id="57" name="Straight Connector 56">
                <a:extLst>
                  <a:ext uri="{FF2B5EF4-FFF2-40B4-BE49-F238E27FC236}">
                    <a16:creationId xmlns:a16="http://schemas.microsoft.com/office/drawing/2014/main" id="{D1F78CF9-9360-160E-17CB-0ACE4CC1D4E9}"/>
                  </a:ext>
                </a:extLst>
              </p:cNvPr>
              <p:cNvCxnSpPr>
                <a:cxnSpLocks/>
              </p:cNvCxnSpPr>
              <p:nvPr/>
            </p:nvCxnSpPr>
            <p:spPr>
              <a:xfrm>
                <a:off x="3411446" y="4627860"/>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sp>
        <p:nvSpPr>
          <p:cNvPr id="7" name="TextBox 6">
            <a:extLst>
              <a:ext uri="{FF2B5EF4-FFF2-40B4-BE49-F238E27FC236}">
                <a16:creationId xmlns:a16="http://schemas.microsoft.com/office/drawing/2014/main" id="{0B16FB63-F84B-3F15-4992-109B60A575AD}"/>
              </a:ext>
            </a:extLst>
          </p:cNvPr>
          <p:cNvSpPr txBox="1"/>
          <p:nvPr/>
        </p:nvSpPr>
        <p:spPr>
          <a:xfrm>
            <a:off x="166647" y="6615934"/>
            <a:ext cx="2603594" cy="261610"/>
          </a:xfrm>
          <a:prstGeom prst="rect">
            <a:avLst/>
          </a:prstGeom>
          <a:noFill/>
        </p:spPr>
        <p:txBody>
          <a:bodyPr wrap="square" lIns="91440" tIns="45720" rIns="91440" bIns="45720" anchor="t">
            <a:spAutoFit/>
          </a:bodyPr>
          <a:lstStyle/>
          <a:p>
            <a:pPr>
              <a:spcAft>
                <a:spcPts val="200"/>
              </a:spcAft>
              <a:defRPr/>
            </a:pPr>
            <a:r>
              <a:rPr lang="en-US" sz="1100" dirty="0">
                <a:solidFill>
                  <a:srgbClr val="FFFFFF"/>
                </a:solidFill>
                <a:latin typeface="Ubuntu" panose="020B0504030602030204" pitchFamily="34" charset="0"/>
                <a:cs typeface="Calibri"/>
              </a:rPr>
              <a:t>Hyderabad, India</a:t>
            </a:r>
            <a:endParaRPr kumimoji="0" lang="en-US" sz="1100" i="0" u="none" strike="noStrike" kern="1200" cap="none" spc="0" normalizeH="0" baseline="0" noProof="0" dirty="0">
              <a:ln>
                <a:noFill/>
              </a:ln>
              <a:solidFill>
                <a:srgbClr val="FFFFFF"/>
              </a:solidFill>
              <a:effectLst/>
              <a:uLnTx/>
              <a:uFillTx/>
              <a:latin typeface="Ubuntu" panose="020B0504030602030204" pitchFamily="34" charset="0"/>
              <a:cs typeface="Calibri"/>
            </a:endParaRPr>
          </a:p>
        </p:txBody>
      </p:sp>
      <p:pic>
        <p:nvPicPr>
          <p:cNvPr id="1026" name="Picture 2" descr="User with solid fill">
            <a:extLst>
              <a:ext uri="{FF2B5EF4-FFF2-40B4-BE49-F238E27FC236}">
                <a16:creationId xmlns:a16="http://schemas.microsoft.com/office/drawing/2014/main" id="{09F5AED3-5E80-F59C-822B-C859979D4E15}"/>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63404" y="348656"/>
            <a:ext cx="1554480" cy="155448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 name="Picture Placeholder 7" descr="A person in a purple shirt&#10;&#10;Description automatically generated">
            <a:extLst>
              <a:ext uri="{FF2B5EF4-FFF2-40B4-BE49-F238E27FC236}">
                <a16:creationId xmlns:a16="http://schemas.microsoft.com/office/drawing/2014/main" id="{0EC625EC-3DAD-4A70-35F8-4BBF516BE9DB}"/>
              </a:ext>
            </a:extLst>
          </p:cNvPr>
          <p:cNvPicPr>
            <a:picLocks noChangeAspect="1"/>
          </p:cNvPicPr>
          <p:nvPr/>
        </p:nvPicPr>
        <p:blipFill>
          <a:blip r:embed="rId5">
            <a:extLst>
              <a:ext uri="{28A0092B-C50C-407E-A947-70E740481C1C}">
                <a14:useLocalDpi xmlns:a14="http://schemas.microsoft.com/office/drawing/2010/main" val="0"/>
              </a:ext>
            </a:extLst>
          </a:blip>
          <a:srcRect l="5487" r="5487"/>
          <a:stretch>
            <a:fillRect/>
          </a:stretch>
        </p:blipFill>
        <p:spPr>
          <a:xfrm rot="466308">
            <a:off x="909039" y="287492"/>
            <a:ext cx="1734208" cy="1735628"/>
          </a:xfrm>
          <a:prstGeom prst="ellipse">
            <a:avLst/>
          </a:prstGeom>
        </p:spPr>
      </p:pic>
    </p:spTree>
    <p:extLst>
      <p:ext uri="{BB962C8B-B14F-4D97-AF65-F5344CB8AC3E}">
        <p14:creationId xmlns:p14="http://schemas.microsoft.com/office/powerpoint/2010/main" val="1410674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42B102100C2A4FBC3F1FF9BE20DBA3" ma:contentTypeVersion="16" ma:contentTypeDescription="Create a new document." ma:contentTypeScope="" ma:versionID="490330519aafc738d8fc76cc03f89774">
  <xsd:schema xmlns:xsd="http://www.w3.org/2001/XMLSchema" xmlns:xs="http://www.w3.org/2001/XMLSchema" xmlns:p="http://schemas.microsoft.com/office/2006/metadata/properties" xmlns:ns2="39f93dc0-c171-4047-9366-aaddaa3a1758" xmlns:ns3="82faa61b-5e22-406b-ac2d-555039057bcd" targetNamespace="http://schemas.microsoft.com/office/2006/metadata/properties" ma:root="true" ma:fieldsID="f9d3f10422710ab90ae78d13f1efd04b" ns2:_="" ns3:_="">
    <xsd:import namespace="39f93dc0-c171-4047-9366-aaddaa3a1758"/>
    <xsd:import namespace="82faa61b-5e22-406b-ac2d-555039057bc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f93dc0-c171-4047-9366-aaddaa3a17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faa61b-5e22-406b-ac2d-555039057bc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baab95f8-1700-4e2f-8821-3bc25219efaa}" ma:internalName="TaxCatchAll" ma:showField="CatchAllData" ma:web="82faa61b-5e22-406b-ac2d-555039057b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9f93dc0-c171-4047-9366-aaddaa3a1758">
      <Terms xmlns="http://schemas.microsoft.com/office/infopath/2007/PartnerControls"/>
    </lcf76f155ced4ddcb4097134ff3c332f>
    <TaxCatchAll xmlns="82faa61b-5e22-406b-ac2d-555039057bcd" xsi:nil="true"/>
  </documentManagement>
</p:properties>
</file>

<file path=customXml/itemProps1.xml><?xml version="1.0" encoding="utf-8"?>
<ds:datastoreItem xmlns:ds="http://schemas.openxmlformats.org/officeDocument/2006/customXml" ds:itemID="{54BFB5D4-4115-4840-81DB-C009B59ABD0F}">
  <ds:schemaRefs>
    <ds:schemaRef ds:uri="39f93dc0-c171-4047-9366-aaddaa3a1758"/>
    <ds:schemaRef ds:uri="82faa61b-5e22-406b-ac2d-555039057b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C72208E-A6BA-4509-8A3A-C5D95015CECF}">
  <ds:schemaRefs>
    <ds:schemaRef ds:uri="http://schemas.microsoft.com/sharepoint/v3/contenttype/forms"/>
  </ds:schemaRefs>
</ds:datastoreItem>
</file>

<file path=customXml/itemProps3.xml><?xml version="1.0" encoding="utf-8"?>
<ds:datastoreItem xmlns:ds="http://schemas.openxmlformats.org/officeDocument/2006/customXml" ds:itemID="{690167A4-28F7-492E-964A-0E43687D84F5}">
  <ds:schemaRefs>
    <ds:schemaRef ds:uri="http://purl.org/dc/terms/"/>
    <ds:schemaRef ds:uri="http://purl.org/dc/elements/1.1/"/>
    <ds:schemaRef ds:uri="http://schemas.openxmlformats.org/package/2006/metadata/core-properties"/>
    <ds:schemaRef ds:uri="39f93dc0-c171-4047-9366-aaddaa3a1758"/>
    <ds:schemaRef ds:uri="http://schemas.microsoft.com/office/2006/metadata/properties"/>
    <ds:schemaRef ds:uri="http://schemas.microsoft.com/office/2006/documentManagement/types"/>
    <ds:schemaRef ds:uri="http://purl.org/dc/dcmitype/"/>
    <ds:schemaRef ds:uri="http://schemas.microsoft.com/office/infopath/2007/PartnerControls"/>
    <ds:schemaRef ds:uri="82faa61b-5e22-406b-ac2d-555039057bcd"/>
    <ds:schemaRef ds:uri="http://www.w3.org/XML/1998/namespace"/>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otalTime>394</TotalTime>
  <Words>464</Words>
  <Application>Microsoft Office PowerPoint</Application>
  <PresentationFormat>Widescreen</PresentationFormat>
  <Paragraphs>26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Display</vt:lpstr>
      <vt:lpstr>Arial</vt:lpstr>
      <vt:lpstr>Calibri</vt:lpstr>
      <vt:lpstr>Ubuntu</vt:lpstr>
      <vt:lpstr>Wingdings</vt:lpstr>
      <vt:lpstr>Wingdings,Sans-Serif</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Bhatia, Vinay</dc:creator>
  <cp:lastModifiedBy>Chawla, Manvinder</cp:lastModifiedBy>
  <cp:revision>16</cp:revision>
  <dcterms:created xsi:type="dcterms:W3CDTF">2024-07-17T20:02:39Z</dcterms:created>
  <dcterms:modified xsi:type="dcterms:W3CDTF">2025-04-17T10:52:44Z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0x0101003442B102100C2A4FBC3F1FF9BE20DBA3</vt:lpwstr>
  </property>
  <property fmtid="{D5CDD505-2E9C-101B-9397-08002B2CF9AE}" pid="3" name="MediaServiceImageTags">
    <vt:lpwstr/>
  </property>
</Properties>
</file>